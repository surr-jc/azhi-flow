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31f586e-a685-7b06-d76a-e494e53ee6f1}">
          <p14:sldIdLst>
            <p14:sldId id="256"/>
            <p14:sldId id="257"/>
          </p14:sldIdLst>
        </p14:section>
        <p14:section name="How it works" id="{ed9f8b50-16c5-dffc-cdad-d149a134915b}">
          <p14:sldIdLst>
            <p14:sldId id="258"/>
            <p14:sldId id="259"/>
          </p14:sldIdLst>
        </p14:section>
        <p14:section name="The product" id="{44a3b968-3a0a-f93b-98c7-fcfe4a9a6fe8}">
          <p14:sldIdLst>
            <p14:sldId id="260"/>
            <p14:sldId id="261"/>
            <p14:sldId id="262"/>
          </p14:sldIdLst>
        </p14:section>
        <p14:section name="Why it is different" id="{3715b94d-3d0a-12eb-15d3-2db4f5ebff57}">
          <p14:sldIdLst>
            <p14:sldId id="263"/>
            <p14:sldId id="264"/>
            <p14:sldId id="265"/>
          </p14:sldIdLst>
        </p14:section>
        <p14:section name="Use it" id="{3f5ff58c-4243-c427-6b3a-7face11af52c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3FB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FB7A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8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8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Call a model</c:v>
                </c:pt>
                <c:pt idx="1">
                  <c:v>Plain code and tools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0B111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Azhi Flow is a self-hosted runtime for AI workflows. The picture is the real web app, on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modes. Azhi answers all four by treating the agent as one node in a durable,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pr-review: pr, four reviewer agents, summarize, report, slack_message, two conditions, post, notify. Five agent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savings percentage is claimed. The 5 of 12 comes from the example pr-review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Secrets are write-only in the UI. Unknown cost shows as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screenshot the new comment-on-pr step is flagged because it writes after agents that read untrusted pull request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 scrubs through the run events. The ledger uses fencing so a crash mid-post still yields one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coverage labels each rule enforced, harness-enforced or unobservable, per executor.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steps are counted in AI credits against the monthly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Azhi is not a replacement for an in-editor assistant. Several of these tools can run inside Azhi.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install with azhi example install, or from the marketplace page in Mission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 the roadmap only as each piece ships. Source: docs/positioning.md.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release. Linux workers; Windows through WSL2.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omcast-enterprise/azhi-flow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548640" y="640080"/>
            <a:ext cx="822960" cy="822960"/>
          </a:xfrm>
          <a:prstGeom prst="roundRect">
            <a:avLst>
              <a:gd name="adj" fmla="val 2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Logo text"/>
          <p:cNvSpPr txBox="1"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9202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Azhi Flow</a:t>
            </a:r>
            <a:endParaRPr lang="en-US" sz="60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32004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durable agent workflows that say plainly what they can and cannot guarantee.</a:t>
            </a:r>
            <a:endParaRPr lang="en-US" sz="2200" dirty="0"/>
          </a:p>
        </p:txBody>
      </p:sp>
      <p:sp>
        <p:nvSpPr>
          <p:cNvPr id="6" name="Facts"/>
          <p:cNvSpPr txBox="1"/>
          <p:nvPr/>
        </p:nvSpPr>
        <p:spPr>
          <a:xfrm>
            <a:off x="54864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 ·  Open source  ·  Apache-2.0</a:t>
            </a:r>
            <a:endParaRPr lang="en-US" sz="1600" dirty="0"/>
          </a:p>
        </p:txBody>
      </p:sp>
      <p:sp>
        <p:nvSpPr>
          <p:cNvPr id="7" name="Repository"/>
          <p:cNvSpPr txBox="1"/>
          <p:nvPr/>
        </p:nvSpPr>
        <p:spPr>
          <a:xfrm>
            <a:off x="548640" y="5303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https://github.com/comcast-enterprise/azhi-flow</a:t>
            </a:r>
            <a:endParaRPr lang="en-US" sz="1400" dirty="0"/>
          </a:p>
        </p:txBody>
      </p:sp>
      <p:pic>
        <p:nvPicPr>
          <p:cNvPr id="8" name="Workflow canvas screenshot" descr="Workflow canva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25880"/>
            <a:ext cx="5303520" cy="298323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in production fail in familiar ways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73736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1 circle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Problem 1 icon" descr="FiPo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201875"/>
            <a:ext cx="351130" cy="351130"/>
          </a:xfrm>
          <a:prstGeom prst="rect">
            <a:avLst/>
          </a:prstGeom>
        </p:spPr>
      </p:pic>
      <p:sp>
        <p:nvSpPr>
          <p:cNvPr id="6" name="Problem 1 title"/>
          <p:cNvSpPr txBox="1"/>
          <p:nvPr/>
        </p:nvSpPr>
        <p:spPr>
          <a:xfrm>
            <a:off x="82296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die halfway</a:t>
            </a:r>
            <a:endParaRPr lang="en-US" sz="2000" dirty="0"/>
          </a:p>
        </p:txBody>
      </p:sp>
      <p:sp>
        <p:nvSpPr>
          <p:cNvPr id="7" name="Problem 1 text"/>
          <p:cNvSpPr txBox="1"/>
          <p:nvPr/>
        </p:nvSpPr>
        <p:spPr>
          <a:xfrm>
            <a:off x="82296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crash, restart or timeout, and the work is redone or lost.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73736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 2 circle"/>
          <p:cNvSpPr/>
          <p:nvPr/>
        </p:nvSpPr>
        <p:spPr>
          <a:xfrm>
            <a:off x="3566160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Problem 2 icon" descr="FiCop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355" y="2201875"/>
            <a:ext cx="351130" cy="351130"/>
          </a:xfrm>
          <a:prstGeom prst="rect">
            <a:avLst/>
          </a:prstGeom>
        </p:spPr>
      </p:pic>
      <p:sp>
        <p:nvSpPr>
          <p:cNvPr id="11" name="Problem 2 title"/>
          <p:cNvSpPr txBox="1"/>
          <p:nvPr/>
        </p:nvSpPr>
        <p:spPr>
          <a:xfrm>
            <a:off x="356616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write twice</a:t>
            </a:r>
            <a:endParaRPr lang="en-US" sz="2000" dirty="0"/>
          </a:p>
        </p:txBody>
      </p:sp>
      <p:sp>
        <p:nvSpPr>
          <p:cNvPr id="12" name="Problem 2 text"/>
          <p:cNvSpPr txBox="1"/>
          <p:nvPr/>
        </p:nvSpPr>
        <p:spPr>
          <a:xfrm>
            <a:off x="356616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retried agent posts to Slack or GitHub a second time.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035040" y="173736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 3 circle"/>
          <p:cNvSpPr/>
          <p:nvPr/>
        </p:nvSpPr>
        <p:spPr>
          <a:xfrm>
            <a:off x="6309360" y="20116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Problem 3 icon" descr="Fi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2201875"/>
            <a:ext cx="351130" cy="351130"/>
          </a:xfrm>
          <a:prstGeom prst="rect">
            <a:avLst/>
          </a:prstGeom>
        </p:spPr>
      </p:pic>
      <p:sp>
        <p:nvSpPr>
          <p:cNvPr id="16" name="Problem 3 title"/>
          <p:cNvSpPr txBox="1"/>
          <p:nvPr/>
        </p:nvSpPr>
        <p:spPr>
          <a:xfrm>
            <a:off x="630936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can say what happened</a:t>
            </a:r>
            <a:endParaRPr lang="en-US" sz="2000" dirty="0"/>
          </a:p>
        </p:txBody>
      </p:sp>
      <p:sp>
        <p:nvSpPr>
          <p:cNvPr id="17" name="Problem 3 text"/>
          <p:cNvSpPr txBox="1"/>
          <p:nvPr/>
        </p:nvSpPr>
        <p:spPr>
          <a:xfrm>
            <a:off x="630936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see, what was it allowed to do, and what did it cost?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8778240" y="173736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roblem 4 circle"/>
          <p:cNvSpPr/>
          <p:nvPr/>
        </p:nvSpPr>
        <p:spPr>
          <a:xfrm>
            <a:off x="9052560" y="2011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Problem 4 icon" descr="Fi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755" y="2201875"/>
            <a:ext cx="351130" cy="351130"/>
          </a:xfrm>
          <a:prstGeom prst="rect">
            <a:avLst/>
          </a:prstGeom>
        </p:spPr>
      </p:pic>
      <p:sp>
        <p:nvSpPr>
          <p:cNvPr id="21" name="Problem 4 title"/>
          <p:cNvSpPr txBox="1"/>
          <p:nvPr/>
        </p:nvSpPr>
        <p:spPr>
          <a:xfrm>
            <a:off x="905256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 steers writes</a:t>
            </a:r>
            <a:endParaRPr lang="en-US" sz="2000" dirty="0"/>
          </a:p>
        </p:txBody>
      </p:sp>
      <p:sp>
        <p:nvSpPr>
          <p:cNvPr id="22" name="Problem 4 text"/>
          <p:cNvSpPr txBox="1"/>
          <p:nvPr/>
        </p:nvSpPr>
        <p:spPr>
          <a:xfrm>
            <a:off x="905256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or ticket can talk an agent into a write it should never make.</a:t>
            </a:r>
            <a:endParaRPr lang="en-US" sz="1400" dirty="0"/>
          </a:p>
        </p:txBody>
      </p:sp>
      <p:sp>
        <p:nvSpPr>
          <p:cNvPr id="23" name="Answer band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Answer text"/>
          <p:cNvSpPr txBox="1"/>
          <p:nvPr/>
        </p:nvSpPr>
        <p:spPr>
          <a:xfrm>
            <a:off x="914400" y="502920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Azhi starts from the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agent.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workflow of nodes, and an agent is just one of them</a:t>
            </a:r>
            <a:endParaRPr lang="en-US" sz="3400" dirty="0"/>
          </a:p>
        </p:txBody>
      </p:sp>
      <p:sp>
        <p:nvSpPr>
          <p:cNvPr id="3" name="Node chip Script"/>
          <p:cNvSpPr/>
          <p:nvPr/>
        </p:nvSpPr>
        <p:spPr>
          <a:xfrm>
            <a:off x="548640" y="173736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Node chip Script label"/>
          <p:cNvSpPr txBox="1"/>
          <p:nvPr/>
        </p:nvSpPr>
        <p:spPr>
          <a:xfrm>
            <a:off x="548640" y="17373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400" dirty="0"/>
          </a:p>
        </p:txBody>
      </p:sp>
      <p:sp>
        <p:nvSpPr>
          <p:cNvPr id="5" name="Node chip Tool"/>
          <p:cNvSpPr/>
          <p:nvPr/>
        </p:nvSpPr>
        <p:spPr>
          <a:xfrm>
            <a:off x="1965960" y="173736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Node chip Tool label"/>
          <p:cNvSpPr txBox="1"/>
          <p:nvPr/>
        </p:nvSpPr>
        <p:spPr>
          <a:xfrm>
            <a:off x="1965960" y="17373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7" name="Node chip Retrieve"/>
          <p:cNvSpPr/>
          <p:nvPr/>
        </p:nvSpPr>
        <p:spPr>
          <a:xfrm>
            <a:off x="3383280" y="173736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Node chip Retrieve label"/>
          <p:cNvSpPr txBox="1"/>
          <p:nvPr/>
        </p:nvSpPr>
        <p:spPr>
          <a:xfrm>
            <a:off x="3383280" y="17373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9" name="Node chip Agent"/>
          <p:cNvSpPr/>
          <p:nvPr/>
        </p:nvSpPr>
        <p:spPr>
          <a:xfrm>
            <a:off x="4800600" y="173736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Node chip Agent label"/>
          <p:cNvSpPr txBox="1"/>
          <p:nvPr/>
        </p:nvSpPr>
        <p:spPr>
          <a:xfrm>
            <a:off x="4800600" y="17373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1" name="Node chip Condition"/>
          <p:cNvSpPr/>
          <p:nvPr/>
        </p:nvSpPr>
        <p:spPr>
          <a:xfrm>
            <a:off x="548640" y="237744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 chip Condition label"/>
          <p:cNvSpPr txBox="1"/>
          <p:nvPr/>
        </p:nvSpPr>
        <p:spPr>
          <a:xfrm>
            <a:off x="548640" y="23774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13" name="Node chip Parallel"/>
          <p:cNvSpPr/>
          <p:nvPr/>
        </p:nvSpPr>
        <p:spPr>
          <a:xfrm>
            <a:off x="1965960" y="237744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Node chip Parallel label"/>
          <p:cNvSpPr txBox="1"/>
          <p:nvPr/>
        </p:nvSpPr>
        <p:spPr>
          <a:xfrm>
            <a:off x="1965960" y="23774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400" dirty="0"/>
          </a:p>
        </p:txBody>
      </p:sp>
      <p:sp>
        <p:nvSpPr>
          <p:cNvPr id="15" name="Node chip Loop"/>
          <p:cNvSpPr/>
          <p:nvPr/>
        </p:nvSpPr>
        <p:spPr>
          <a:xfrm>
            <a:off x="3383280" y="237744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Node chip Loop label"/>
          <p:cNvSpPr txBox="1"/>
          <p:nvPr/>
        </p:nvSpPr>
        <p:spPr>
          <a:xfrm>
            <a:off x="3383280" y="23774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00" dirty="0"/>
          </a:p>
        </p:txBody>
      </p:sp>
      <p:sp>
        <p:nvSpPr>
          <p:cNvPr id="17" name="Node chip Subworkflow"/>
          <p:cNvSpPr/>
          <p:nvPr/>
        </p:nvSpPr>
        <p:spPr>
          <a:xfrm>
            <a:off x="4800600" y="237744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Node chip Subworkflow label"/>
          <p:cNvSpPr txBox="1"/>
          <p:nvPr/>
        </p:nvSpPr>
        <p:spPr>
          <a:xfrm>
            <a:off x="4800600" y="23774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</a:t>
            </a:r>
            <a:endParaRPr lang="en-US" sz="1400" dirty="0"/>
          </a:p>
        </p:txBody>
      </p:sp>
      <p:sp>
        <p:nvSpPr>
          <p:cNvPr id="19" name="Node chip Approval"/>
          <p:cNvSpPr/>
          <p:nvPr/>
        </p:nvSpPr>
        <p:spPr>
          <a:xfrm>
            <a:off x="548640" y="301752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Node chip Approval label"/>
          <p:cNvSpPr txBox="1"/>
          <p:nvPr/>
        </p:nvSpPr>
        <p:spPr>
          <a:xfrm>
            <a:off x="548640" y="3017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400" dirty="0"/>
          </a:p>
        </p:txBody>
      </p:sp>
      <p:sp>
        <p:nvSpPr>
          <p:cNvPr id="21" name="Node chip Report"/>
          <p:cNvSpPr/>
          <p:nvPr/>
        </p:nvSpPr>
        <p:spPr>
          <a:xfrm>
            <a:off x="1965960" y="301752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ode chip Report label"/>
          <p:cNvSpPr txBox="1"/>
          <p:nvPr/>
        </p:nvSpPr>
        <p:spPr>
          <a:xfrm>
            <a:off x="1965960" y="3017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Node chip Notify"/>
          <p:cNvSpPr/>
          <p:nvPr/>
        </p:nvSpPr>
        <p:spPr>
          <a:xfrm>
            <a:off x="3383280" y="3017520"/>
            <a:ext cx="1298448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Node chip Notify label"/>
          <p:cNvSpPr txBox="1"/>
          <p:nvPr/>
        </p:nvSpPr>
        <p:spPr>
          <a:xfrm>
            <a:off x="3383280" y="3017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25" name="Node note"/>
          <p:cNvSpPr txBox="1"/>
          <p:nvPr/>
        </p:nvSpPr>
        <p:spPr>
          <a:xfrm>
            <a:off x="548640" y="3840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node types in one YAML definition (schema 2.0), checked by a compiler before anything runs.</a:t>
            </a:r>
            <a:endParaRPr lang="en-US" sz="1600" dirty="0"/>
          </a:p>
        </p:txBody>
      </p:sp>
      <p:sp>
        <p:nvSpPr>
          <p:cNvPr id="26" name="Workflow-first points"/>
          <p:cNvSpPr txBox="1"/>
          <p:nvPr/>
        </p:nvSpPr>
        <p:spPr>
          <a:xfrm>
            <a:off x="548640" y="45720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Steps that need no model run as plain code and cost no tokens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agent step is bounded: budget, tools, output schema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Durable on Temporal: retries, waits, schedules, cancellation</a:t>
            </a:r>
            <a:endParaRPr lang="en-US" sz="1600" dirty="0"/>
          </a:p>
        </p:txBody>
      </p:sp>
      <p:pic>
        <p:nvPicPr>
          <p:cNvPr id="27" name="pr-review workflow screenshot" descr="pr-review workflo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57800" cy="295751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8" name="Screenshot caption"/>
          <p:cNvSpPr txBox="1"/>
          <p:nvPr/>
        </p:nvSpPr>
        <p:spPr>
          <a:xfrm>
            <a:off x="6400800" y="4663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pull request review workflow: 12 steps, 5 of them call a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called only where judgment is needed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onut centre"/>
          <p:cNvSpPr txBox="1"/>
          <p:nvPr/>
        </p:nvSpPr>
        <p:spPr>
          <a:xfrm>
            <a:off x="1783080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12</a:t>
            </a:r>
            <a:endParaRPr lang="en-US" sz="2800" dirty="0"/>
          </a:p>
        </p:txBody>
      </p:sp>
      <p:sp>
        <p:nvSpPr>
          <p:cNvPr id="5" name="Donut centre caption"/>
          <p:cNvSpPr txBox="1"/>
          <p:nvPr/>
        </p:nvSpPr>
        <p:spPr>
          <a:xfrm>
            <a:off x="155448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the PR review</a:t>
            </a:r>
            <a:endParaRPr lang="en-US" sz="1200" dirty="0"/>
          </a:p>
        </p:txBody>
      </p:sp>
      <p:sp>
        <p:nvSpPr>
          <p:cNvPr id="6" name="Saving 1 badge"/>
          <p:cNvSpPr/>
          <p:nvPr/>
        </p:nvSpPr>
        <p:spPr>
          <a:xfrm>
            <a:off x="539496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aving 1 number"/>
          <p:cNvSpPr txBox="1"/>
          <p:nvPr/>
        </p:nvSpPr>
        <p:spPr>
          <a:xfrm>
            <a:off x="5394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aving 1 text"/>
          <p:cNvSpPr txBox="1"/>
          <p:nvPr/>
        </p:nvSpPr>
        <p:spPr>
          <a:xfrm>
            <a:off x="6035040" y="1508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that need no model never call one</a:t>
            </a:r>
            <a:endParaRPr lang="en-US" sz="1800" dirty="0"/>
          </a:p>
        </p:txBody>
      </p:sp>
      <p:sp>
        <p:nvSpPr>
          <p:cNvPr id="9" name="Saving 2 badge"/>
          <p:cNvSpPr/>
          <p:nvPr/>
        </p:nvSpPr>
        <p:spPr>
          <a:xfrm>
            <a:off x="5394960" y="2167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aving 2 number"/>
          <p:cNvSpPr txBox="1"/>
          <p:nvPr/>
        </p:nvSpPr>
        <p:spPr>
          <a:xfrm>
            <a:off x="53949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aving 2 text"/>
          <p:cNvSpPr txBox="1"/>
          <p:nvPr/>
        </p:nvSpPr>
        <p:spPr>
          <a:xfrm>
            <a:off x="6035040" y="21671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is projected: agents get the fields they need</a:t>
            </a:r>
            <a:endParaRPr lang="en-US" sz="1800" dirty="0"/>
          </a:p>
        </p:txBody>
      </p:sp>
      <p:sp>
        <p:nvSpPr>
          <p:cNvPr id="12" name="Saving 3 badge"/>
          <p:cNvSpPr/>
          <p:nvPr/>
        </p:nvSpPr>
        <p:spPr>
          <a:xfrm>
            <a:off x="5394960" y="28254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aving 3 number"/>
          <p:cNvSpPr txBox="1"/>
          <p:nvPr/>
        </p:nvSpPr>
        <p:spPr>
          <a:xfrm>
            <a:off x="539496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aving 3 text"/>
          <p:cNvSpPr txBox="1"/>
          <p:nvPr/>
        </p:nvSpPr>
        <p:spPr>
          <a:xfrm>
            <a:off x="6035040" y="282549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returns top-k cited passages, not a corpus</a:t>
            </a:r>
            <a:endParaRPr lang="en-US" sz="1800" dirty="0"/>
          </a:p>
        </p:txBody>
      </p:sp>
      <p:sp>
        <p:nvSpPr>
          <p:cNvPr id="15" name="Saving 4 badge"/>
          <p:cNvSpPr/>
          <p:nvPr/>
        </p:nvSpPr>
        <p:spPr>
          <a:xfrm>
            <a:off x="5394960" y="34838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aving 4 number"/>
          <p:cNvSpPr txBox="1"/>
          <p:nvPr/>
        </p:nvSpPr>
        <p:spPr>
          <a:xfrm>
            <a:off x="539496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aving 4 text"/>
          <p:cNvSpPr txBox="1"/>
          <p:nvPr/>
        </p:nvSpPr>
        <p:spPr>
          <a:xfrm>
            <a:off x="6035040" y="348386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budgets: tool calls, output tokens, dollars</a:t>
            </a:r>
            <a:endParaRPr lang="en-US" sz="1800" dirty="0"/>
          </a:p>
        </p:txBody>
      </p:sp>
      <p:sp>
        <p:nvSpPr>
          <p:cNvPr id="18" name="Saving 5 badge"/>
          <p:cNvSpPr/>
          <p:nvPr/>
        </p:nvSpPr>
        <p:spPr>
          <a:xfrm>
            <a:off x="5394960" y="41422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aving 5 number"/>
          <p:cNvSpPr txBox="1"/>
          <p:nvPr/>
        </p:nvSpPr>
        <p:spPr>
          <a:xfrm>
            <a:off x="539496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aving 5 text"/>
          <p:cNvSpPr txBox="1"/>
          <p:nvPr/>
        </p:nvSpPr>
        <p:spPr>
          <a:xfrm>
            <a:off x="6035040" y="41422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harness and checkout only where a step needs one</a:t>
            </a:r>
            <a:endParaRPr lang="en-US" sz="1800" dirty="0"/>
          </a:p>
        </p:txBody>
      </p:sp>
      <p:sp>
        <p:nvSpPr>
          <p:cNvPr id="21" name="Saving 6 badge"/>
          <p:cNvSpPr/>
          <p:nvPr/>
        </p:nvSpPr>
        <p:spPr>
          <a:xfrm>
            <a:off x="5394960" y="4800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aving 6 number"/>
          <p:cNvSpPr txBox="1"/>
          <p:nvPr/>
        </p:nvSpPr>
        <p:spPr>
          <a:xfrm>
            <a:off x="5394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Saving 6 text"/>
          <p:cNvSpPr txBox="1"/>
          <p:nvPr/>
        </p:nvSpPr>
        <p:spPr>
          <a:xfrm>
            <a:off x="6035040" y="4800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caching, with cache tokens counted</a:t>
            </a:r>
            <a:endParaRPr lang="en-US" sz="1800" dirty="0"/>
          </a:p>
        </p:txBody>
      </p:sp>
      <p:sp>
        <p:nvSpPr>
          <p:cNvPr id="24" name="Honesty note"/>
          <p:cNvSpPr txBox="1"/>
          <p:nvPr/>
        </p:nvSpPr>
        <p:spPr>
          <a:xfrm>
            <a:off x="5394960" y="5577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Mechanisms, not benchmarks. The count is from the example workflow; your savings depend on your workflow, and Azhi reports your measured cost.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Control: one screen for what needs you</a:t>
            </a:r>
            <a:endParaRPr lang="en-US" sz="3400" dirty="0"/>
          </a:p>
        </p:txBody>
      </p:sp>
      <p:pic>
        <p:nvPicPr>
          <p:cNvPr id="3" name="Mission Control screenshot" descr="Mission Contro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4114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Mission Control points"/>
          <p:cNvSpPr txBox="1"/>
          <p:nvPr/>
        </p:nvSpPr>
        <p:spPr>
          <a:xfrm>
            <a:off x="8183880" y="1645920"/>
            <a:ext cx="3474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is running, waiting and failing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Approvals waiting on a person, with the payload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Alerts, schedules and worker health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 spend today and this week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action goes through the same API and role checks as the CLI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harness on the canvas, checked as you type</a:t>
            </a:r>
            <a:endParaRPr lang="en-US" sz="3400" dirty="0"/>
          </a:p>
        </p:txBody>
      </p:sp>
      <p:pic>
        <p:nvPicPr>
          <p:cNvPr id="3" name="Editor screenshot with the taint rule" descr="Editor screenshot with the taint r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4114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Harness points"/>
          <p:cNvSpPr txBox="1"/>
          <p:nvPr/>
        </p:nvSpPr>
        <p:spPr>
          <a:xfrm>
            <a:off x="8183880" y="16459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Per-agent harness: executor, prompt, skills, read-only tools, MCP servers, budget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tools from the catalog; each new step runs after the selected one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server compiles and plans every change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Taint rule: a write after an agent that read untrusted code fails to compile. A guard fixes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is evidence, not a log to dig through</a:t>
            </a:r>
            <a:endParaRPr lang="en-US" sz="3400" dirty="0"/>
          </a:p>
        </p:txBody>
      </p:sp>
      <p:pic>
        <p:nvPicPr>
          <p:cNvPr id="3" name="Run page screenshot" descr="Run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4114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Evidence Action ledger circle"/>
          <p:cNvSpPr/>
          <p:nvPr/>
        </p:nvSpPr>
        <p:spPr>
          <a:xfrm>
            <a:off x="818388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vidence Action ledger icon" descr="Fi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301" y="1766621"/>
            <a:ext cx="307238" cy="307238"/>
          </a:xfrm>
          <a:prstGeom prst="rect">
            <a:avLst/>
          </a:prstGeom>
        </p:spPr>
      </p:pic>
      <p:sp>
        <p:nvSpPr>
          <p:cNvPr id="6" name="Evidence Action ledger title"/>
          <p:cNvSpPr txBox="1"/>
          <p:nvPr/>
        </p:nvSpPr>
        <p:spPr>
          <a:xfrm>
            <a:off x="90068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ledger</a:t>
            </a:r>
            <a:endParaRPr lang="en-US" sz="1800" dirty="0"/>
          </a:p>
        </p:txBody>
      </p:sp>
      <p:sp>
        <p:nvSpPr>
          <p:cNvPr id="7" name="Evidence Action ledger text"/>
          <p:cNvSpPr txBox="1"/>
          <p:nvPr/>
        </p:nvSpPr>
        <p:spPr>
          <a:xfrm>
            <a:off x="9006840" y="1947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write, with receipts. Exactly once.</a:t>
            </a:r>
            <a:endParaRPr lang="en-US" sz="1400" dirty="0"/>
          </a:p>
        </p:txBody>
      </p:sp>
      <p:sp>
        <p:nvSpPr>
          <p:cNvPr id="8" name="Evidence Policy coverage circle"/>
          <p:cNvSpPr/>
          <p:nvPr/>
        </p:nvSpPr>
        <p:spPr>
          <a:xfrm>
            <a:off x="8183880" y="26974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Evidence Policy coverage icon" descr="FiCheck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01" y="2863901"/>
            <a:ext cx="307238" cy="307238"/>
          </a:xfrm>
          <a:prstGeom prst="rect">
            <a:avLst/>
          </a:prstGeom>
        </p:spPr>
      </p:pic>
      <p:sp>
        <p:nvSpPr>
          <p:cNvPr id="10" name="Evidence Policy coverage title"/>
          <p:cNvSpPr txBox="1"/>
          <p:nvPr/>
        </p:nvSpPr>
        <p:spPr>
          <a:xfrm>
            <a:off x="90068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coverage</a:t>
            </a:r>
            <a:endParaRPr lang="en-US" sz="1800" dirty="0"/>
          </a:p>
        </p:txBody>
      </p:sp>
      <p:sp>
        <p:nvSpPr>
          <p:cNvPr id="11" name="Evidence Policy coverage text"/>
          <p:cNvSpPr txBox="1"/>
          <p:nvPr/>
        </p:nvSpPr>
        <p:spPr>
          <a:xfrm>
            <a:off x="9006840" y="3044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Azhi, by the harness, or unobservable.</a:t>
            </a:r>
            <a:endParaRPr lang="en-US" sz="1400" dirty="0"/>
          </a:p>
        </p:txBody>
      </p:sp>
      <p:sp>
        <p:nvSpPr>
          <p:cNvPr id="12" name="Evidence Context manifest circle"/>
          <p:cNvSpPr/>
          <p:nvPr/>
        </p:nvSpPr>
        <p:spPr>
          <a:xfrm>
            <a:off x="8183880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Evidence Context manifest icon" descr="FiLay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01" y="3961181"/>
            <a:ext cx="307238" cy="307238"/>
          </a:xfrm>
          <a:prstGeom prst="rect">
            <a:avLst/>
          </a:prstGeom>
        </p:spPr>
      </p:pic>
      <p:sp>
        <p:nvSpPr>
          <p:cNvPr id="14" name="Evidence Context manifest title"/>
          <p:cNvSpPr txBox="1"/>
          <p:nvPr/>
        </p:nvSpPr>
        <p:spPr>
          <a:xfrm>
            <a:off x="90068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manifest</a:t>
            </a:r>
            <a:endParaRPr lang="en-US" sz="1800" dirty="0"/>
          </a:p>
        </p:txBody>
      </p:sp>
      <p:sp>
        <p:nvSpPr>
          <p:cNvPr id="15" name="Evidence Context manifest text"/>
          <p:cNvSpPr txBox="1"/>
          <p:nvPr/>
        </p:nvSpPr>
        <p:spPr>
          <a:xfrm>
            <a:off x="9006840" y="4142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the model saw, with hashes.</a:t>
            </a:r>
            <a:endParaRPr lang="en-US" sz="1400" dirty="0"/>
          </a:p>
        </p:txBody>
      </p:sp>
      <p:sp>
        <p:nvSpPr>
          <p:cNvPr id="16" name="Evidence Cost per step circle"/>
          <p:cNvSpPr/>
          <p:nvPr/>
        </p:nvSpPr>
        <p:spPr>
          <a:xfrm>
            <a:off x="8183880" y="48920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Evidence Cost per step icon" descr="FiDollarSig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301" y="5058461"/>
            <a:ext cx="307238" cy="307238"/>
          </a:xfrm>
          <a:prstGeom prst="rect">
            <a:avLst/>
          </a:prstGeom>
        </p:spPr>
      </p:pic>
      <p:sp>
        <p:nvSpPr>
          <p:cNvPr id="18" name="Evidence Cost per step title"/>
          <p:cNvSpPr txBox="1"/>
          <p:nvPr/>
        </p:nvSpPr>
        <p:spPr>
          <a:xfrm>
            <a:off x="900684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step</a:t>
            </a:r>
            <a:endParaRPr lang="en-US" sz="1800" dirty="0"/>
          </a:p>
        </p:txBody>
      </p:sp>
      <p:sp>
        <p:nvSpPr>
          <p:cNvPr id="19" name="Evidence Cost per step text"/>
          <p:cNvSpPr txBox="1"/>
          <p:nvPr/>
        </p:nvSpPr>
        <p:spPr>
          <a:xfrm>
            <a:off x="9006840" y="5239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per turn; unknown stays unknown.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you can check before and after a run</a:t>
            </a:r>
            <a:endParaRPr lang="en-US" sz="3400" dirty="0"/>
          </a:p>
        </p:txBody>
      </p:sp>
      <p:sp>
        <p:nvSpPr>
          <p:cNvPr id="3" name="Trust card Run plan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ust Run plan circle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rust Run plan icon" descr="FiClip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957913"/>
            <a:ext cx="272125" cy="272125"/>
          </a:xfrm>
          <a:prstGeom prst="rect">
            <a:avLst/>
          </a:prstGeom>
        </p:spPr>
      </p:pic>
      <p:sp>
        <p:nvSpPr>
          <p:cNvPr id="6" name="Trust Run plan title"/>
          <p:cNvSpPr txBox="1"/>
          <p:nvPr/>
        </p:nvSpPr>
        <p:spPr>
          <a:xfrm>
            <a:off x="1508760" y="18105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plan</a:t>
            </a:r>
            <a:endParaRPr lang="en-US" sz="2000" dirty="0"/>
          </a:p>
        </p:txBody>
      </p:sp>
      <p:sp>
        <p:nvSpPr>
          <p:cNvPr id="7" name="Trust Run plan text"/>
          <p:cNvSpPr txBox="1"/>
          <p:nvPr/>
        </p:nvSpPr>
        <p:spPr>
          <a:xfrm>
            <a:off x="804672" y="25146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marked native, bridged, unsupported or unverified. Blockers refuse the run before anything executes.</a:t>
            </a:r>
            <a:endParaRPr lang="en-US" sz="1400" dirty="0"/>
          </a:p>
        </p:txBody>
      </p:sp>
      <p:sp>
        <p:nvSpPr>
          <p:cNvPr id="8" name="Trust card Taint gate"/>
          <p:cNvSpPr/>
          <p:nvPr/>
        </p:nvSpPr>
        <p:spPr>
          <a:xfrm>
            <a:off x="4270248" y="1554480"/>
            <a:ext cx="356616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rust Taint gate circle"/>
          <p:cNvSpPr/>
          <p:nvPr/>
        </p:nvSpPr>
        <p:spPr>
          <a:xfrm>
            <a:off x="4526280" y="1810512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Trust Taint gate icon" descr="Fi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1" y="1957913"/>
            <a:ext cx="272125" cy="272125"/>
          </a:xfrm>
          <a:prstGeom prst="rect">
            <a:avLst/>
          </a:prstGeom>
        </p:spPr>
      </p:pic>
      <p:sp>
        <p:nvSpPr>
          <p:cNvPr id="11" name="Trust Taint gate title"/>
          <p:cNvSpPr txBox="1"/>
          <p:nvPr/>
        </p:nvSpPr>
        <p:spPr>
          <a:xfrm>
            <a:off x="5230368" y="18105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gate</a:t>
            </a:r>
            <a:endParaRPr lang="en-US" sz="2000" dirty="0"/>
          </a:p>
        </p:txBody>
      </p:sp>
      <p:sp>
        <p:nvSpPr>
          <p:cNvPr id="12" name="Trust Taint gate text"/>
          <p:cNvSpPr txBox="1"/>
          <p:nvPr/>
        </p:nvSpPr>
        <p:spPr>
          <a:xfrm>
            <a:off x="4526280" y="25146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ungated write after an agent that read untrusted data fails to compile.</a:t>
            </a:r>
            <a:endParaRPr lang="en-US" sz="1400" dirty="0"/>
          </a:p>
        </p:txBody>
      </p:sp>
      <p:sp>
        <p:nvSpPr>
          <p:cNvPr id="13" name="Trust card Exactly-once writes"/>
          <p:cNvSpPr/>
          <p:nvPr/>
        </p:nvSpPr>
        <p:spPr>
          <a:xfrm>
            <a:off x="7991856" y="1554480"/>
            <a:ext cx="356616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rust Exactly-once writes circle"/>
          <p:cNvSpPr/>
          <p:nvPr/>
        </p:nvSpPr>
        <p:spPr>
          <a:xfrm>
            <a:off x="8247888" y="1810512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Trust Exactly-once writes icon" descr="FiRep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289" y="1957913"/>
            <a:ext cx="272125" cy="272125"/>
          </a:xfrm>
          <a:prstGeom prst="rect">
            <a:avLst/>
          </a:prstGeom>
        </p:spPr>
      </p:pic>
      <p:sp>
        <p:nvSpPr>
          <p:cNvPr id="16" name="Trust Exactly-once writes title"/>
          <p:cNvSpPr txBox="1"/>
          <p:nvPr/>
        </p:nvSpPr>
        <p:spPr>
          <a:xfrm>
            <a:off x="8951976" y="18105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writes</a:t>
            </a:r>
            <a:endParaRPr lang="en-US" sz="2000" dirty="0"/>
          </a:p>
        </p:txBody>
      </p:sp>
      <p:sp>
        <p:nvSpPr>
          <p:cNvPr id="17" name="Trust Exactly-once writes text"/>
          <p:cNvSpPr txBox="1"/>
          <p:nvPr/>
        </p:nvSpPr>
        <p:spPr>
          <a:xfrm>
            <a:off x="8247888" y="25146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and ledger with fencing. Kill it mid-post: one Slack message.</a:t>
            </a:r>
            <a:endParaRPr lang="en-US" sz="1400" dirty="0"/>
          </a:p>
        </p:txBody>
      </p:sp>
      <p:sp>
        <p:nvSpPr>
          <p:cNvPr id="18" name="Trust card Context manifest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rust Context manifest circle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Trust Context manifest icon" descr="FiLay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289633"/>
            <a:ext cx="272125" cy="272125"/>
          </a:xfrm>
          <a:prstGeom prst="rect">
            <a:avLst/>
          </a:prstGeom>
        </p:spPr>
      </p:pic>
      <p:sp>
        <p:nvSpPr>
          <p:cNvPr id="21" name="Trust Context manifest title"/>
          <p:cNvSpPr txBox="1"/>
          <p:nvPr/>
        </p:nvSpPr>
        <p:spPr>
          <a:xfrm>
            <a:off x="1508760" y="41422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manifest</a:t>
            </a:r>
            <a:endParaRPr lang="en-US" sz="2000" dirty="0"/>
          </a:p>
        </p:txBody>
      </p:sp>
      <p:sp>
        <p:nvSpPr>
          <p:cNvPr id="22" name="Trust Context manifest text"/>
          <p:cNvSpPr txBox="1"/>
          <p:nvPr/>
        </p:nvSpPr>
        <p:spPr>
          <a:xfrm>
            <a:off x="804672" y="48463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saw on every turn, and what is unobservable said out loud.</a:t>
            </a:r>
            <a:endParaRPr lang="en-US" sz="1400" dirty="0"/>
          </a:p>
        </p:txBody>
      </p:sp>
      <p:sp>
        <p:nvSpPr>
          <p:cNvPr id="23" name="Trust card Signed packages"/>
          <p:cNvSpPr/>
          <p:nvPr/>
        </p:nvSpPr>
        <p:spPr>
          <a:xfrm>
            <a:off x="4270248" y="3886200"/>
            <a:ext cx="356616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rust Signed packages circle"/>
          <p:cNvSpPr/>
          <p:nvPr/>
        </p:nvSpPr>
        <p:spPr>
          <a:xfrm>
            <a:off x="4526280" y="4142232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Trust Signed packages icon" descr="Fi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81" y="4289633"/>
            <a:ext cx="272125" cy="272125"/>
          </a:xfrm>
          <a:prstGeom prst="rect">
            <a:avLst/>
          </a:prstGeom>
        </p:spPr>
      </p:pic>
      <p:sp>
        <p:nvSpPr>
          <p:cNvPr id="26" name="Trust Signed packages title"/>
          <p:cNvSpPr txBox="1"/>
          <p:nvPr/>
        </p:nvSpPr>
        <p:spPr>
          <a:xfrm>
            <a:off x="5230368" y="41422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packages</a:t>
            </a:r>
            <a:endParaRPr lang="en-US" sz="2000" dirty="0"/>
          </a:p>
        </p:txBody>
      </p:sp>
      <p:sp>
        <p:nvSpPr>
          <p:cNvPr id="27" name="Trust Signed packages text"/>
          <p:cNvSpPr txBox="1"/>
          <p:nvPr/>
        </p:nvSpPr>
        <p:spPr>
          <a:xfrm>
            <a:off x="4526280" y="48463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Per-publisher keys certified by the workspace; workers enforce a trust policy.</a:t>
            </a:r>
            <a:endParaRPr lang="en-US" sz="1400" dirty="0"/>
          </a:p>
        </p:txBody>
      </p:sp>
      <p:sp>
        <p:nvSpPr>
          <p:cNvPr id="28" name="Trust card Human approvals"/>
          <p:cNvSpPr/>
          <p:nvPr/>
        </p:nvSpPr>
        <p:spPr>
          <a:xfrm>
            <a:off x="7991856" y="3886200"/>
            <a:ext cx="356616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rust Human approvals circle"/>
          <p:cNvSpPr/>
          <p:nvPr/>
        </p:nvSpPr>
        <p:spPr>
          <a:xfrm>
            <a:off x="8247888" y="414223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Trust Human approvals icon" descr="FiUse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289" y="4289633"/>
            <a:ext cx="272125" cy="272125"/>
          </a:xfrm>
          <a:prstGeom prst="rect">
            <a:avLst/>
          </a:prstGeom>
        </p:spPr>
      </p:pic>
      <p:sp>
        <p:nvSpPr>
          <p:cNvPr id="31" name="Trust Human approvals title"/>
          <p:cNvSpPr txBox="1"/>
          <p:nvPr/>
        </p:nvSpPr>
        <p:spPr>
          <a:xfrm>
            <a:off x="8951976" y="41422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approvals</a:t>
            </a:r>
            <a:endParaRPr lang="en-US" sz="2000" dirty="0"/>
          </a:p>
        </p:txBody>
      </p:sp>
      <p:sp>
        <p:nvSpPr>
          <p:cNvPr id="32" name="Trust Human approvals text"/>
          <p:cNvSpPr txBox="1"/>
          <p:nvPr/>
        </p:nvSpPr>
        <p:spPr>
          <a:xfrm>
            <a:off x="8247888" y="48463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on risky steps, decided in the web app or Slack, kept in the ledger.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you can see, cap and trust</a:t>
            </a:r>
            <a:endParaRPr lang="en-US" sz="3400" dirty="0"/>
          </a:p>
        </p:txBody>
      </p:sp>
      <p:pic>
        <p:nvPicPr>
          <p:cNvPr id="3" name="Usage and spend screenshot (sample data)" descr="Usage and spend screenshot (sample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4114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Spend points"/>
          <p:cNvSpPr txBox="1"/>
          <p:nvPr/>
        </p:nvSpPr>
        <p:spPr>
          <a:xfrm>
            <a:off x="8183880" y="164592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Tokens in, tokens out and dollars, per day and per workflow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Per-step budgets: max tool calls, output tokens and cost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Spend limits per workflow or workspace, per day or month. At the limit, new runs are refused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Alerts at 80% and 100%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 comes from declared pricing; unpriced turns show as unknown, never zero</a:t>
            </a:r>
            <a:endParaRPr lang="en-US" sz="1600" dirty="0"/>
          </a:p>
        </p:txBody>
      </p:sp>
      <p:sp>
        <p:nvSpPr>
          <p:cNvPr id="5" name="Sample data note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on the screenshot are sample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Azhi fits next to the tools you already use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737360"/>
                <a:gridCol w="1463040"/>
                <a:gridCol w="16733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Azhi 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agent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n8n-style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LangGraph-style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runs, retries, schedules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of what is enforced, before the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Exactly-once writes ledger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taint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Per-turn context manifest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Per-step budgets and spend limits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Plan-level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approval gates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49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6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mparison source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6 October 2026, from each product’s public descriptions; these tools change quickly. OpenCode and the Claude Agent SDK also run inside Azhi as executors.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harness. Start from a working example</a:t>
            </a:r>
            <a:endParaRPr lang="en-US" sz="3400" dirty="0"/>
          </a:p>
        </p:txBody>
      </p:sp>
      <p:sp>
        <p:nvSpPr>
          <p:cNvPr id="3" name="Executors heading"/>
          <p:cNvSpPr txBox="1"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executors</a:t>
            </a:r>
            <a:endParaRPr lang="en-US" sz="2000" dirty="0"/>
          </a:p>
        </p:txBody>
      </p:sp>
      <p:sp>
        <p:nvSpPr>
          <p:cNvPr id="4" name="Executor card Built-in model agent"/>
          <p:cNvSpPr/>
          <p:nvPr/>
        </p:nvSpPr>
        <p:spPr>
          <a:xfrm>
            <a:off x="548640" y="2011680"/>
            <a:ext cx="539496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ecutor Built-in model agent title"/>
          <p:cNvSpPr txBox="1"/>
          <p:nvPr/>
        </p:nvSpPr>
        <p:spPr>
          <a:xfrm>
            <a:off x="822960" y="2121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model agent</a:t>
            </a:r>
            <a:endParaRPr lang="en-US" sz="1800" dirty="0"/>
          </a:p>
        </p:txBody>
      </p:sp>
      <p:sp>
        <p:nvSpPr>
          <p:cNvPr id="6" name="Executor Built-in model agent text"/>
          <p:cNvSpPr txBox="1"/>
          <p:nvPr/>
        </p:nvSpPr>
        <p:spPr>
          <a:xfrm>
            <a:off x="822960" y="2487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or OpenAI, gateway-only tools, validated output</a:t>
            </a:r>
            <a:endParaRPr lang="en-US" sz="1400" dirty="0"/>
          </a:p>
        </p:txBody>
      </p:sp>
      <p:sp>
        <p:nvSpPr>
          <p:cNvPr id="7" name="Executor card OpenCode"/>
          <p:cNvSpPr/>
          <p:nvPr/>
        </p:nvSpPr>
        <p:spPr>
          <a:xfrm>
            <a:off x="548640" y="3246120"/>
            <a:ext cx="539496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xecutor OpenCode title"/>
          <p:cNvSpPr txBox="1"/>
          <p:nvPr/>
        </p:nvSpPr>
        <p:spPr>
          <a:xfrm>
            <a:off x="822960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800" dirty="0"/>
          </a:p>
        </p:txBody>
      </p:sp>
      <p:sp>
        <p:nvSpPr>
          <p:cNvPr id="9" name="Executor OpenCode text"/>
          <p:cNvSpPr txBox="1"/>
          <p:nvPr/>
        </p:nvSpPr>
        <p:spPr>
          <a:xfrm>
            <a:off x="822960" y="3721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repository checkout, skills, read-only tools, MCP; Anthropic or GitHub Copilot models</a:t>
            </a:r>
            <a:endParaRPr lang="en-US" sz="1400" dirty="0"/>
          </a:p>
        </p:txBody>
      </p:sp>
      <p:sp>
        <p:nvSpPr>
          <p:cNvPr id="10" name="Executor card Claude Agent SDK"/>
          <p:cNvSpPr/>
          <p:nvPr/>
        </p:nvSpPr>
        <p:spPr>
          <a:xfrm>
            <a:off x="548640" y="4480560"/>
            <a:ext cx="539496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xecutor Claude Agent SDK title"/>
          <p:cNvSpPr txBox="1"/>
          <p:nvPr/>
        </p:nvSpPr>
        <p:spPr>
          <a:xfrm>
            <a:off x="822960" y="4590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800" dirty="0"/>
          </a:p>
        </p:txBody>
      </p:sp>
      <p:sp>
        <p:nvSpPr>
          <p:cNvPr id="12" name="Executor Claude Agent SDK text"/>
          <p:cNvSpPr txBox="1"/>
          <p:nvPr/>
        </p:nvSpPr>
        <p:spPr>
          <a:xfrm>
            <a:off x="822960" y="49560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with declared capabilities checked by the run plan</a:t>
            </a:r>
            <a:endParaRPr lang="en-US" sz="1400" dirty="0"/>
          </a:p>
        </p:txBody>
      </p:sp>
      <p:sp>
        <p:nvSpPr>
          <p:cNvPr id="13" name="Examples heading"/>
          <p:cNvSpPr txBox="1"/>
          <p:nvPr/>
        </p:nvSpPr>
        <p:spPr>
          <a:xfrm>
            <a:off x="64922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that ship with it</a:t>
            </a:r>
            <a:endParaRPr lang="en-US" sz="2000" dirty="0"/>
          </a:p>
        </p:txBody>
      </p:sp>
      <p:sp>
        <p:nvSpPr>
          <p:cNvPr id="14" name="Example card Weekly quality report"/>
          <p:cNvSpPr/>
          <p:nvPr/>
        </p:nvSpPr>
        <p:spPr>
          <a:xfrm>
            <a:off x="6492240" y="2011680"/>
            <a:ext cx="5148072" cy="804672"/>
          </a:xfrm>
          <a:prstGeom prst="roundRect">
            <a:avLst>
              <a:gd name="adj" fmla="val 15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xample Weekly quality report title"/>
          <p:cNvSpPr txBox="1"/>
          <p:nvPr/>
        </p:nvSpPr>
        <p:spPr>
          <a:xfrm>
            <a:off x="6720840" y="2084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quality report</a:t>
            </a:r>
            <a:endParaRPr lang="en-US" sz="1600" dirty="0"/>
          </a:p>
        </p:txBody>
      </p:sp>
      <p:sp>
        <p:nvSpPr>
          <p:cNvPr id="16" name="Example Weekly quality report text"/>
          <p:cNvSpPr txBox="1"/>
          <p:nvPr/>
        </p:nvSpPr>
        <p:spPr>
          <a:xfrm>
            <a:off x="672084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metrics analysed by a model, posted to Slack with numbered citations.</a:t>
            </a:r>
            <a:endParaRPr lang="en-US" sz="1200" dirty="0"/>
          </a:p>
        </p:txBody>
      </p:sp>
      <p:sp>
        <p:nvSpPr>
          <p:cNvPr id="17" name="Example card Pull request review"/>
          <p:cNvSpPr/>
          <p:nvPr/>
        </p:nvSpPr>
        <p:spPr>
          <a:xfrm>
            <a:off x="6492240" y="2944368"/>
            <a:ext cx="5148072" cy="804672"/>
          </a:xfrm>
          <a:prstGeom prst="roundRect">
            <a:avLst>
              <a:gd name="adj" fmla="val 15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Example Pull request review title"/>
          <p:cNvSpPr txBox="1"/>
          <p:nvPr/>
        </p:nvSpPr>
        <p:spPr>
          <a:xfrm>
            <a:off x="6720840" y="3017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review</a:t>
            </a:r>
            <a:endParaRPr lang="en-US" sz="1600" dirty="0"/>
          </a:p>
        </p:txBody>
      </p:sp>
      <p:sp>
        <p:nvSpPr>
          <p:cNvPr id="19" name="Example Pull request review text"/>
          <p:cNvSpPr txBox="1"/>
          <p:nvPr/>
        </p:nvSpPr>
        <p:spPr>
          <a:xfrm>
            <a:off x="6720840" y="3310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OpenCode reviewers in isolated checkouts; an approval gates the comment.</a:t>
            </a:r>
            <a:endParaRPr lang="en-US" sz="1200" dirty="0"/>
          </a:p>
        </p:txBody>
      </p:sp>
      <p:sp>
        <p:nvSpPr>
          <p:cNvPr id="20" name="Example card Feature delivery"/>
          <p:cNvSpPr/>
          <p:nvPr/>
        </p:nvSpPr>
        <p:spPr>
          <a:xfrm>
            <a:off x="6492240" y="3877056"/>
            <a:ext cx="5148072" cy="804672"/>
          </a:xfrm>
          <a:prstGeom prst="roundRect">
            <a:avLst>
              <a:gd name="adj" fmla="val 15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Example Feature delivery title"/>
          <p:cNvSpPr txBox="1"/>
          <p:nvPr/>
        </p:nvSpPr>
        <p:spPr>
          <a:xfrm>
            <a:off x="6720840" y="3950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delivery</a:t>
            </a:r>
            <a:endParaRPr lang="en-US" sz="1600" dirty="0"/>
          </a:p>
        </p:txBody>
      </p:sp>
      <p:sp>
        <p:nvSpPr>
          <p:cNvPr id="22" name="Example Feature delivery text"/>
          <p:cNvSpPr txBox="1"/>
          <p:nvPr/>
        </p:nvSpPr>
        <p:spPr>
          <a:xfrm>
            <a:off x="6720840" y="42428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or GitHub issue to requirements, design, build, tests and a reviewed pull request.</a:t>
            </a:r>
            <a:endParaRPr lang="en-US" sz="1200" dirty="0"/>
          </a:p>
        </p:txBody>
      </p:sp>
      <p:sp>
        <p:nvSpPr>
          <p:cNvPr id="23" name="Example card Issue root cause"/>
          <p:cNvSpPr/>
          <p:nvPr/>
        </p:nvSpPr>
        <p:spPr>
          <a:xfrm>
            <a:off x="6492240" y="4809744"/>
            <a:ext cx="5148072" cy="804672"/>
          </a:xfrm>
          <a:prstGeom prst="roundRect">
            <a:avLst>
              <a:gd name="adj" fmla="val 15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Example Issue root cause title"/>
          <p:cNvSpPr txBox="1"/>
          <p:nvPr/>
        </p:nvSpPr>
        <p:spPr>
          <a:xfrm>
            <a:off x="6720840" y="48828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root cause</a:t>
            </a:r>
            <a:endParaRPr lang="en-US" sz="1600" dirty="0"/>
          </a:p>
        </p:txBody>
      </p:sp>
      <p:sp>
        <p:nvSpPr>
          <p:cNvPr id="25" name="Example Issue root cause text"/>
          <p:cNvSpPr txBox="1"/>
          <p:nvPr/>
        </p:nvSpPr>
        <p:spPr>
          <a:xfrm>
            <a:off x="6720840" y="51755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agent returns a 5-whys chain with file and line evidence.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status: what is built, and what is vision</a:t>
            </a:r>
            <a:endParaRPr lang="en-US" sz="3400" dirty="0"/>
          </a:p>
        </p:txBody>
      </p:sp>
      <p:sp>
        <p:nvSpPr>
          <p:cNvPr id="3" name="Status Built header"/>
          <p:cNvSpPr/>
          <p:nvPr/>
        </p:nvSpPr>
        <p:spPr>
          <a:xfrm>
            <a:off x="548640" y="1554480"/>
            <a:ext cx="35661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atus Built label"/>
          <p:cNvSpPr txBox="1"/>
          <p:nvPr/>
        </p:nvSpPr>
        <p:spPr>
          <a:xfrm>
            <a:off x="54864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800" dirty="0"/>
          </a:p>
        </p:txBody>
      </p:sp>
      <p:sp>
        <p:nvSpPr>
          <p:cNvPr id="5" name="Status Built items"/>
          <p:cNvSpPr txBox="1"/>
          <p:nvPr/>
        </p:nvSpPr>
        <p:spPr>
          <a:xfrm>
            <a:off x="640080" y="23317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Eleven node types, YAML schema 2.0, compiler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Durable runs on Temporal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Gateway, action ledger, run plan, taint gate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agent, OpenCode, Claude Agent SDK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Datasets with hybrid retrieval and citations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Mission Control, CLI and REST API</a:t>
            </a:r>
            <a:endParaRPr lang="en-US" sz="1400" dirty="0"/>
          </a:p>
        </p:txBody>
      </p:sp>
      <p:sp>
        <p:nvSpPr>
          <p:cNvPr id="6" name="Status Partly built header"/>
          <p:cNvSpPr/>
          <p:nvPr/>
        </p:nvSpPr>
        <p:spPr>
          <a:xfrm>
            <a:off x="4297680" y="1554480"/>
            <a:ext cx="35661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tatus Partly built label"/>
          <p:cNvSpPr txBox="1"/>
          <p:nvPr/>
        </p:nvSpPr>
        <p:spPr>
          <a:xfrm>
            <a:off x="429768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built</a:t>
            </a:r>
            <a:endParaRPr lang="en-US" sz="1800" dirty="0"/>
          </a:p>
        </p:txBody>
      </p:sp>
      <p:sp>
        <p:nvSpPr>
          <p:cNvPr id="8" name="Status Partly built items"/>
          <p:cNvSpPr txBox="1"/>
          <p:nvPr/>
        </p:nvSpPr>
        <p:spPr>
          <a:xfrm>
            <a:off x="4389120" y="23317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Provider choice per profile, not by capability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MCP over stdio; streamable HTTP pending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Token optimization by design, not automatic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 checkouts; no hosted sandbox yet</a:t>
            </a:r>
            <a:endParaRPr lang="en-US" sz="1400" dirty="0"/>
          </a:p>
        </p:txBody>
      </p:sp>
      <p:sp>
        <p:nvSpPr>
          <p:cNvPr id="9" name="Status Vision header"/>
          <p:cNvSpPr/>
          <p:nvPr/>
        </p:nvSpPr>
        <p:spPr>
          <a:xfrm>
            <a:off x="8046720" y="1554480"/>
            <a:ext cx="3566160" cy="5486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tatus Vision label"/>
          <p:cNvSpPr txBox="1"/>
          <p:nvPr/>
        </p:nvSpPr>
        <p:spPr>
          <a:xfrm>
            <a:off x="804672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800" dirty="0"/>
          </a:p>
        </p:txBody>
      </p:sp>
      <p:sp>
        <p:nvSpPr>
          <p:cNvPr id="11" name="Status Vision items"/>
          <p:cNvSpPr txBox="1"/>
          <p:nvPr/>
        </p:nvSpPr>
        <p:spPr>
          <a:xfrm>
            <a:off x="8138160" y="23317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Capability-based model routing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 caching across runs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Savings reports against a baseline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Capability resolution, then a capability graph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Workflows exposed as MCP tools</a:t>
            </a:r>
            <a:endParaRPr lang="en-US" sz="1400" dirty="0"/>
          </a:p>
        </p:txBody>
      </p:sp>
      <p:sp>
        <p:nvSpPr>
          <p:cNvPr id="12" name="Status footnote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version 0.1.0. Server and workers on Linux (Windows through WSL2); local mode runs everything in one process.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800" dirty="0"/>
          </a:p>
        </p:txBody>
      </p:sp>
      <p:sp>
        <p:nvSpPr>
          <p:cNvPr id="3" name="Code block"/>
          <p:cNvSpPr/>
          <p:nvPr/>
        </p:nvSpPr>
        <p:spPr>
          <a:xfrm>
            <a:off x="548640" y="1737360"/>
            <a:ext cx="704088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868680" y="19202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https://github.com/comcast-enterprise/azhi-flow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azhi-flow &amp;&amp; npm ci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azhi up</a:t>
            </a:r>
            <a:endParaRPr lang="en-US" sz="1400" dirty="0"/>
          </a:p>
        </p:txBody>
      </p:sp>
      <p:sp>
        <p:nvSpPr>
          <p:cNvPr id="5" name="Install note"/>
          <p:cNvSpPr txBox="1"/>
          <p:nvPr/>
        </p:nvSpPr>
        <p:spPr>
          <a:xfrm>
            <a:off x="548640" y="39776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web link. Or run deploy/install.sh for the Docker stack with PostgreSQL, Temporal and the server.</a:t>
            </a:r>
            <a:endParaRPr lang="en-US" sz="1600" dirty="0"/>
          </a:p>
        </p:txBody>
      </p:sp>
      <p:sp>
        <p:nvSpPr>
          <p:cNvPr id="6" name="Repo label"/>
          <p:cNvSpPr txBox="1"/>
          <p:nvPr/>
        </p:nvSpPr>
        <p:spPr>
          <a:xfrm>
            <a:off x="80010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7" name="Repo link">
            <a:hlinkClick r:id="rId1" tooltip=""/>
          </p:cNvPr>
          <p:cNvSpPr txBox="1"/>
          <p:nvPr/>
        </p:nvSpPr>
        <p:spPr>
          <a:xfrm>
            <a:off x="80010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github.com/comcast-enterprise/azhi-flow</a:t>
            </a:r>
            <a:endParaRPr lang="en-US" sz="1600" dirty="0"/>
          </a:p>
        </p:txBody>
      </p:sp>
      <p:sp>
        <p:nvSpPr>
          <p:cNvPr id="8" name="Video label"/>
          <p:cNvSpPr txBox="1"/>
          <p:nvPr/>
        </p:nvSpPr>
        <p:spPr>
          <a:xfrm>
            <a:off x="800100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400" dirty="0"/>
          </a:p>
        </p:txBody>
      </p:sp>
      <p:sp>
        <p:nvSpPr>
          <p:cNvPr id="9" name="Video path"/>
          <p:cNvSpPr txBox="1"/>
          <p:nvPr/>
        </p:nvSpPr>
        <p:spPr>
          <a:xfrm>
            <a:off x="8001000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docs/demo/out/azhi-flow-demo.mp4</a:t>
            </a:r>
            <a:endParaRPr lang="en-US" sz="1600" dirty="0"/>
          </a:p>
        </p:txBody>
      </p:sp>
      <p:sp>
        <p:nvSpPr>
          <p:cNvPr id="10" name="Docs label"/>
          <p:cNvSpPr txBox="1"/>
          <p:nvPr/>
        </p:nvSpPr>
        <p:spPr>
          <a:xfrm>
            <a:off x="800100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1" name="Docs path"/>
          <p:cNvSpPr txBox="1"/>
          <p:nvPr/>
        </p:nvSpPr>
        <p:spPr>
          <a:xfrm>
            <a:off x="800100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docs/positioning.md, docs/install.md</a:t>
            </a:r>
            <a:endParaRPr lang="en-US" sz="1600" dirty="0"/>
          </a:p>
        </p:txBody>
      </p:sp>
      <p:sp>
        <p:nvSpPr>
          <p:cNvPr id="12" name="Closing tagline"/>
          <p:cNvSpPr txBox="1"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durable agent workflows that say plainly what they can and cannot guarantee.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hi Flow">
  <a:themeElements>
    <a:clrScheme name="Azhi Flow">
      <a:dk1>
        <a:srgbClr val="0B1118"/>
      </a:dk1>
      <a:lt1>
        <a:srgbClr val="FFFFFF"/>
      </a:lt1>
      <a:dk2>
        <a:srgbClr val="12303A"/>
      </a:dk2>
      <a:lt2>
        <a:srgbClr val="F1F4F7"/>
      </a:lt2>
      <a:accent1>
        <a:srgbClr val="0E6F6A"/>
      </a:accent1>
      <a:accent2>
        <a:srgbClr val="2FB7AA"/>
      </a:accent2>
      <a:accent3>
        <a:srgbClr val="D4900F"/>
      </a:accent3>
      <a:accent4>
        <a:srgbClr val="5A3FB0"/>
      </a:accent4>
      <a:accent5>
        <a:srgbClr val="2463A8"/>
      </a:accent5>
      <a:accent6>
        <a:srgbClr val="B42318"/>
      </a:accent6>
      <a:hlink>
        <a:srgbClr val="0E6F6A"/>
      </a:hlink>
      <a:folHlink>
        <a:srgbClr val="5A3FB0"/>
      </a:folHlink>
    </a:clrScheme>
    <a:fontScheme name="Azhi 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Azhi Flow</dc:title>
  <dc:subject>Governed, durable agent workflows</dc:subject>
  <dc:creator>Azhi Flow</dc:creator>
  <cp:lastModifiedBy>Azhi Flow</cp:lastModifiedBy>
  <cp:revision>1</cp:revision>
  <dcterms:created xsi:type="dcterms:W3CDTF">2026-10-09T17:49:18Z</dcterms:created>
  <dcterms:modified xsi:type="dcterms:W3CDTF">2026-10-09T17:49:18Z</dcterms:modified>
</cp:coreProperties>
</file>